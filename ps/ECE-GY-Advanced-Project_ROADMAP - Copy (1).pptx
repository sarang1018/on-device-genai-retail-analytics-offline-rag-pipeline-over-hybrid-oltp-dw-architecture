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7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4504A-EAB3-4CEB-AD5B-60388FCE7C1A}" type="datetimeFigureOut">
              <a:rPr lang="en-US" smtClean="0"/>
              <a:t>8/29/2022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DDD8E-97A6-402A-9953-38CD2069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30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03EC-E131-4564-90CD-B57B931AA335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93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CA90-CACA-4221-8827-5E9D7E408D17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85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16F1C-61C2-419A-83D0-2F64F6ADD889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21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CE15F-2F55-442E-9111-80BA62578814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3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2687-3BA8-49BA-B6AA-269D394E977C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250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AE3F2-36F3-4955-A7FB-DF30CD0869D3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66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2C1-C50A-444F-9E02-BA67754EEF48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829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99BD7E-84F0-4E25-B6BB-1F6B57D7129E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284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4F1-A21D-4CCE-81A1-F7617C4C81F0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97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CBAB-1E1C-4DFB-8774-F50CDFD7460D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398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8D6B-7CFC-4EF7-80B7-9F57C7655497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14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CFD898-7ADE-484D-8B80-932CA67A27AC}" type="datetime1">
              <a:rPr lang="en-US" smtClean="0"/>
              <a:t>8/29/2022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676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85884"/>
            <a:ext cx="10058400" cy="4139228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7030A0"/>
                </a:solidFill>
                <a:latin typeface="Rockwell" panose="02060603020205020403" pitchFamily="18" charset="0"/>
              </a:rPr>
              <a:t>ECE-GY-9953  (3 credit)</a:t>
            </a:r>
            <a:br>
              <a:rPr lang="en-US" sz="4400" b="1" dirty="0" smtClean="0">
                <a:solidFill>
                  <a:srgbClr val="7030A0"/>
                </a:solidFill>
                <a:latin typeface="Rockwell" panose="02060603020205020403" pitchFamily="18" charset="0"/>
              </a:rPr>
            </a:br>
            <a:r>
              <a:rPr lang="en-US" sz="4400" b="1" dirty="0" smtClean="0">
                <a:solidFill>
                  <a:srgbClr val="7030A0"/>
                </a:solidFill>
                <a:latin typeface="Rockwell" panose="02060603020205020403" pitchFamily="18" charset="0"/>
              </a:rPr>
              <a:t>ECE-GY-9941  (1.5 credit)</a:t>
            </a:r>
            <a:br>
              <a:rPr lang="en-US" sz="4400" b="1" dirty="0" smtClean="0">
                <a:solidFill>
                  <a:srgbClr val="7030A0"/>
                </a:solidFill>
                <a:latin typeface="Rockwell" panose="02060603020205020403" pitchFamily="18" charset="0"/>
              </a:rPr>
            </a:br>
            <a:r>
              <a:rPr lang="en-US" sz="4400" b="1" dirty="0" smtClean="0">
                <a:solidFill>
                  <a:srgbClr val="7030A0"/>
                </a:solidFill>
                <a:latin typeface="Rockwell" panose="02060603020205020403" pitchFamily="18" charset="0"/>
              </a:rPr>
              <a:t>Advanced Project  </a:t>
            </a:r>
            <a:endParaRPr lang="en-US" sz="4400" b="1" dirty="0">
              <a:solidFill>
                <a:srgbClr val="7030A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Project roadmap, high level activities </a:t>
            </a:r>
            <a:endParaRPr lang="en-US" sz="2800" b="1" dirty="0">
              <a:solidFill>
                <a:srgbClr val="C00000"/>
              </a:solidFill>
              <a:latin typeface="Rockwell" panose="020606030202050204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537" y="185884"/>
            <a:ext cx="4093143" cy="1017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070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63506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ROADMAP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2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A) PROJECT PROPOSAL </a:t>
            </a:r>
          </a:p>
          <a:p>
            <a:endParaRPr lang="en-US" sz="2200" dirty="0" smtClean="0"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Rockwell" panose="02060603020205020403" pitchFamily="18" charset="0"/>
              </a:rPr>
              <a:t> </a:t>
            </a:r>
            <a:r>
              <a:rPr lang="en-US" sz="2200" dirty="0" smtClean="0">
                <a:latin typeface="Rockwell" panose="02060603020205020403" pitchFamily="18" charset="0"/>
              </a:rPr>
              <a:t>                                </a:t>
            </a:r>
            <a:r>
              <a:rPr lang="en-US" sz="22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Abstract/Introduction/Description/Executive Summary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22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         Purpose/Anticipated benefits/Justification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22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         Objectives (SMART goal)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22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         Scope:  Product Scope, Project Scope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22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         System: Backend, Frontend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          Technical Solution Overview </a:t>
            </a:r>
          </a:p>
          <a:p>
            <a:pPr marL="0" indent="0">
              <a:buNone/>
            </a:pPr>
            <a:r>
              <a:rPr lang="en-US" dirty="0" smtClean="0"/>
              <a:t>                        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921" y="355014"/>
            <a:ext cx="27432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34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63506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ROADMAP…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2367"/>
            <a:ext cx="10058400" cy="4023360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B) OLTP DATABASE DESIGN (NORMALIZED DESIGN)</a:t>
            </a:r>
          </a:p>
          <a:p>
            <a:pPr marL="0" indent="0">
              <a:buNone/>
            </a:pPr>
            <a:endParaRPr lang="en-US" sz="8000" dirty="0" smtClean="0"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latin typeface="Rockwell" panose="02060603020205020403" pitchFamily="18" charset="0"/>
              </a:rPr>
              <a:t>                       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Enterprise Database Model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Logical Database Model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 Relational Database Model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  DDL Generation</a:t>
            </a:r>
          </a:p>
          <a:p>
            <a:pPr marL="0" indent="0">
              <a:buNone/>
            </a:pPr>
            <a:endParaRPr lang="en-US" b="1" dirty="0" smtClean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 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80" y="573082"/>
            <a:ext cx="27432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69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63506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ROADMAP…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C) OLTP DATABASE IMPLEMENTATION</a:t>
            </a:r>
          </a:p>
          <a:p>
            <a:pPr marL="0" indent="0">
              <a:buNone/>
            </a:pPr>
            <a:endParaRPr lang="en-US" sz="8000" dirty="0" smtClean="0">
              <a:latin typeface="Rockwell" panose="02060603020205020403" pitchFamily="18" charset="0"/>
            </a:endParaRPr>
          </a:p>
          <a:p>
            <a:r>
              <a:rPr lang="en-US" sz="80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Create Objects (Tables, Indexes, Triggers, Function, Procedures)  </a:t>
            </a:r>
          </a:p>
          <a:p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r>
              <a:rPr lang="en-US" sz="80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Populate Data</a:t>
            </a:r>
          </a:p>
          <a:p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 Test Data, Constraints, Triggers for validations </a:t>
            </a:r>
          </a:p>
          <a:p>
            <a:endParaRPr lang="en-US" sz="7400" b="1" dirty="0" smtClean="0"/>
          </a:p>
          <a:p>
            <a:r>
              <a:rPr lang="en-US" sz="7400" b="1" dirty="0" smtClean="0"/>
              <a:t>                         </a:t>
            </a:r>
          </a:p>
          <a:p>
            <a:pPr marL="0" indent="0">
              <a:buNone/>
            </a:pPr>
            <a:endParaRPr lang="en-US" b="1" dirty="0" smtClean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 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80" y="573082"/>
            <a:ext cx="27432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02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63506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ROADMAP…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788" y="1845734"/>
            <a:ext cx="10854891" cy="4543034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>
                <a:solidFill>
                  <a:srgbClr val="C00000"/>
                </a:solidFill>
                <a:latin typeface="Rockwell" panose="02060603020205020403" pitchFamily="18" charset="0"/>
              </a:rPr>
              <a:t>D</a:t>
            </a:r>
            <a:r>
              <a:rPr lang="en-US" sz="80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)  FRONT END APPLICATION DESIGN AND CODING  (For ECE-GY-9953 only)</a:t>
            </a:r>
          </a:p>
          <a:p>
            <a:pPr marL="0" indent="0">
              <a:buNone/>
            </a:pPr>
            <a:endParaRPr lang="en-US" sz="8000" dirty="0" smtClean="0"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Application Frame Work ( Menus, Navigations, DB connections)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User and Management separation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DB Security management  (Role base grants), Password management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8000" b="1" dirty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Application security management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(Data validations, Confirmations, SQL injection, Cross Site scripting</a:t>
            </a:r>
          </a:p>
          <a:p>
            <a:pPr marL="0" indent="0">
              <a:buNone/>
            </a:pPr>
            <a:r>
              <a:rPr lang="en-US" sz="80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Procedures etc.)</a:t>
            </a:r>
          </a:p>
          <a:p>
            <a:endParaRPr lang="en-US" sz="8000" b="1" dirty="0"/>
          </a:p>
          <a:p>
            <a:r>
              <a:rPr lang="en-US" sz="8000" b="1" dirty="0" smtClean="0"/>
              <a:t>                        </a:t>
            </a:r>
          </a:p>
          <a:p>
            <a:endParaRPr lang="en-US" sz="7400" b="1" dirty="0" smtClean="0"/>
          </a:p>
          <a:p>
            <a:r>
              <a:rPr lang="en-US" sz="7400" b="1" dirty="0" smtClean="0"/>
              <a:t>                         </a:t>
            </a:r>
          </a:p>
          <a:p>
            <a:pPr marL="0" indent="0">
              <a:buNone/>
            </a:pPr>
            <a:endParaRPr lang="en-US" b="1" dirty="0" smtClean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 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80" y="656855"/>
            <a:ext cx="27432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30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63506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ROADMAP…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E)  DATA WAREHOUSE DESIGN and IMPLEMENTATION</a:t>
            </a:r>
          </a:p>
          <a:p>
            <a:pPr marL="0" indent="0">
              <a:buNone/>
            </a:pPr>
            <a:endParaRPr lang="en-US" sz="8000" dirty="0" smtClean="0"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DE-Normalization from OLTP design </a:t>
            </a:r>
          </a:p>
          <a:p>
            <a:pPr marL="0" indent="0">
              <a:buNone/>
            </a:pP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   (STAR SCHEMA with DIM_DATE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dimension) </a:t>
            </a:r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Enterprise, Logical, and Relational Model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  DDL code generation and Creation of Schema </a:t>
            </a:r>
          </a:p>
          <a:p>
            <a:endParaRPr lang="en-US" sz="8000" b="1" dirty="0"/>
          </a:p>
          <a:p>
            <a:r>
              <a:rPr lang="en-US" sz="8000" b="1" dirty="0" smtClean="0"/>
              <a:t>                                               </a:t>
            </a:r>
          </a:p>
          <a:p>
            <a:endParaRPr lang="en-US" sz="7400" b="1" dirty="0" smtClean="0"/>
          </a:p>
          <a:p>
            <a:r>
              <a:rPr lang="en-US" sz="7400" b="1" dirty="0" smtClean="0"/>
              <a:t>                         </a:t>
            </a:r>
          </a:p>
          <a:p>
            <a:pPr marL="0" indent="0">
              <a:buNone/>
            </a:pPr>
            <a:endParaRPr lang="en-US" b="1" dirty="0" smtClean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 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80" y="573082"/>
            <a:ext cx="27432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081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63506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ROADMAP…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F)  ETL CODE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Extract from OLTP database based on timestamp (CDC-change data capture)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Transform Data to match DW schema (using External tables, and PL/SQL)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Load Data to DW schema</a:t>
            </a:r>
            <a:endParaRPr lang="en-US" sz="8000" b="1" dirty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r>
              <a:rPr lang="en-US" sz="8000" b="1" dirty="0" smtClean="0">
                <a:solidFill>
                  <a:srgbClr val="002060"/>
                </a:solidFill>
              </a:rPr>
              <a:t>                                               </a:t>
            </a:r>
          </a:p>
          <a:p>
            <a:r>
              <a:rPr lang="en-US" sz="7400" b="1" dirty="0" smtClean="0">
                <a:solidFill>
                  <a:srgbClr val="002060"/>
                </a:solidFill>
              </a:rPr>
              <a:t> </a:t>
            </a:r>
          </a:p>
          <a:p>
            <a:endParaRPr lang="en-US" sz="7400" b="1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n-US" sz="7400" b="1" dirty="0" smtClean="0"/>
              <a:t>                         </a:t>
            </a:r>
          </a:p>
          <a:p>
            <a:pPr marL="0" indent="0">
              <a:buNone/>
            </a:pPr>
            <a:endParaRPr lang="en-US" b="1" dirty="0" smtClean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 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80" y="573082"/>
            <a:ext cx="27432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91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63506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ROADMAP…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57412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>
                <a:solidFill>
                  <a:srgbClr val="C00000"/>
                </a:solidFill>
              </a:rPr>
              <a:t>G</a:t>
            </a:r>
            <a:r>
              <a:rPr lang="en-US" sz="80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)  Reports and Analytics from DW </a:t>
            </a:r>
            <a:r>
              <a:rPr lang="en-US" sz="80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database, e.g. using Tableau </a:t>
            </a:r>
            <a:endParaRPr lang="en-US" sz="8000" b="1" dirty="0" smtClean="0">
              <a:solidFill>
                <a:srgbClr val="C00000"/>
              </a:solidFill>
              <a:latin typeface="Rockwell" panose="02060603020205020403" pitchFamily="18" charset="0"/>
            </a:endParaRPr>
          </a:p>
          <a:p>
            <a:pPr marL="0" indent="0">
              <a:buNone/>
            </a:pPr>
            <a:endParaRPr lang="en-US" sz="8000" dirty="0" smtClean="0">
              <a:latin typeface="Rockwell" panose="02060603020205020403" pitchFamily="18" charset="0"/>
            </a:endParaRPr>
          </a:p>
          <a:p>
            <a:r>
              <a:rPr lang="en-US" sz="8000" b="1" dirty="0"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latin typeface="Rockwell" panose="02060603020205020403" pitchFamily="18" charset="0"/>
              </a:rPr>
              <a:t>                     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Use any reporting tool for querying data</a:t>
            </a:r>
          </a:p>
          <a:p>
            <a:endParaRPr lang="en-US" sz="8000" b="1" dirty="0" smtClean="0">
              <a:solidFill>
                <a:srgbClr val="002060"/>
              </a:solidFill>
              <a:latin typeface="Rockwell" panose="02060603020205020403" pitchFamily="18" charset="0"/>
            </a:endParaRPr>
          </a:p>
          <a:p>
            <a:r>
              <a:rPr lang="en-US" sz="8000" b="1" dirty="0">
                <a:solidFill>
                  <a:srgbClr val="002060"/>
                </a:solidFill>
                <a:latin typeface="Rockwell" panose="02060603020205020403" pitchFamily="18" charset="0"/>
              </a:rPr>
              <a:t> </a:t>
            </a:r>
            <a:r>
              <a:rPr lang="en-US" sz="8000" b="1" dirty="0" smtClean="0">
                <a:solidFill>
                  <a:srgbClr val="002060"/>
                </a:solidFill>
                <a:latin typeface="Rockwell" panose="02060603020205020403" pitchFamily="18" charset="0"/>
              </a:rPr>
              <a:t>                     Generate reports, Data analytics charts/graphs,  Dashboard</a:t>
            </a:r>
          </a:p>
          <a:p>
            <a:endParaRPr lang="en-US" sz="8000" b="1" dirty="0" smtClean="0">
              <a:latin typeface="Rockwell" panose="02060603020205020403" pitchFamily="18" charset="0"/>
            </a:endParaRPr>
          </a:p>
          <a:p>
            <a:r>
              <a:rPr lang="en-US" sz="80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H)  END to END FUNCTIONALITIES TEST</a:t>
            </a:r>
          </a:p>
          <a:p>
            <a:endParaRPr lang="en-US" sz="8000" b="1" dirty="0">
              <a:solidFill>
                <a:srgbClr val="C00000"/>
              </a:solidFill>
              <a:latin typeface="Rockwell" panose="02060603020205020403" pitchFamily="18" charset="0"/>
            </a:endParaRPr>
          </a:p>
          <a:p>
            <a:r>
              <a:rPr lang="en-US" sz="80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I) PROJECT REPORT and  PROJECT PRESENTATION</a:t>
            </a:r>
          </a:p>
          <a:p>
            <a:endParaRPr lang="en-US" sz="8000" b="1" dirty="0">
              <a:solidFill>
                <a:srgbClr val="C00000"/>
              </a:solidFill>
              <a:latin typeface="Rockwell" panose="02060603020205020403" pitchFamily="18" charset="0"/>
            </a:endParaRPr>
          </a:p>
          <a:p>
            <a:r>
              <a:rPr lang="en-US" sz="8000" b="1" dirty="0" smtClean="0">
                <a:solidFill>
                  <a:srgbClr val="C00000"/>
                </a:solidFill>
                <a:latin typeface="Rockwell" panose="02060603020205020403" pitchFamily="18" charset="0"/>
              </a:rPr>
              <a:t>J) PROJECT DEMO</a:t>
            </a:r>
          </a:p>
          <a:p>
            <a:endParaRPr lang="en-US" sz="80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en-US" sz="8000" b="1" dirty="0" smtClean="0"/>
          </a:p>
          <a:p>
            <a:r>
              <a:rPr lang="en-US" sz="8000" b="1" dirty="0" smtClean="0"/>
              <a:t>                        </a:t>
            </a:r>
            <a:endParaRPr lang="en-US" sz="8000" b="1" dirty="0"/>
          </a:p>
          <a:p>
            <a:r>
              <a:rPr lang="en-US" sz="8000" b="1" dirty="0" smtClean="0"/>
              <a:t>                                               </a:t>
            </a:r>
          </a:p>
          <a:p>
            <a:endParaRPr lang="en-US" sz="7400" b="1" dirty="0" smtClean="0"/>
          </a:p>
          <a:p>
            <a:r>
              <a:rPr lang="en-US" sz="7400" b="1" dirty="0" smtClean="0"/>
              <a:t>                         </a:t>
            </a:r>
          </a:p>
          <a:p>
            <a:pPr marL="0" indent="0">
              <a:buNone/>
            </a:pPr>
            <a:endParaRPr lang="en-US" b="1" dirty="0" smtClean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 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80" y="573082"/>
            <a:ext cx="27432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: Amit Patel, asp13@nyu.edu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4632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5267</TotalTime>
  <Words>388</Words>
  <Application>Microsoft Office PowerPoint</Application>
  <PresentationFormat>Widescreen</PresentationFormat>
  <Paragraphs>136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Rockwell</vt:lpstr>
      <vt:lpstr>Wingdings</vt:lpstr>
      <vt:lpstr>Retrospect</vt:lpstr>
      <vt:lpstr>ECE-GY-9953  (3 credit) ECE-GY-9941  (1.5 credit) Advanced Project  </vt:lpstr>
      <vt:lpstr>ROADMAP</vt:lpstr>
      <vt:lpstr>ROADMAP…</vt:lpstr>
      <vt:lpstr>ROADMAP…</vt:lpstr>
      <vt:lpstr>ROADMAP…</vt:lpstr>
      <vt:lpstr>ROADMAP…</vt:lpstr>
      <vt:lpstr>ROADMAP…</vt:lpstr>
      <vt:lpstr>ROADMAP…</vt:lpstr>
    </vt:vector>
  </TitlesOfParts>
  <Company>FISA-OPA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ECE-GY-9953-BK01 Advanced Project I</dc:title>
  <dc:creator>Patel, Amit</dc:creator>
  <cp:lastModifiedBy>Patel, Amit</cp:lastModifiedBy>
  <cp:revision>18</cp:revision>
  <dcterms:created xsi:type="dcterms:W3CDTF">2020-09-03T20:08:10Z</dcterms:created>
  <dcterms:modified xsi:type="dcterms:W3CDTF">2022-08-29T17:59:06Z</dcterms:modified>
</cp:coreProperties>
</file>